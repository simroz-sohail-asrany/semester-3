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</p:sldIdLst>
  <p:sldSz cy="5143500" cx="9144000"/>
  <p:notesSz cx="6858000" cy="9144000"/>
  <p:embeddedFontLst>
    <p:embeddedFont>
      <p:font typeface="Book Antiqua"/>
      <p:regular r:id="rId97"/>
      <p:bold r:id="rId98"/>
      <p:italic r:id="rId99"/>
      <p:boldItalic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0" Type="http://schemas.openxmlformats.org/officeDocument/2006/relationships/font" Target="fonts/BookAntiqua-bold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font" Target="fonts/BookAntiqua-regular.fntdata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font" Target="fonts/BookAntiqua-italic.fntdata"/><Relationship Id="rId10" Type="http://schemas.openxmlformats.org/officeDocument/2006/relationships/slide" Target="slides/slide6.xml"/><Relationship Id="rId98" Type="http://schemas.openxmlformats.org/officeDocument/2006/relationships/font" Target="fonts/BookAntiqua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cf6554a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cf6554a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513976e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513976e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d39b75c4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d39b75c4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f6554a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f6554a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513976e1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513976e1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cf6554a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cf6554a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513976e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513976e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f6554a9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cf6554a9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513976e1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513976e1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cf6554a9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cf6554a9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f6554a9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f6554a9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cf6554a9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cf6554a9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cf6554a9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cf6554a9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cf6554a9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cf6554a9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cf6554a9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cf6554a9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f6554a9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cf6554a9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513976e1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513976e1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513976e1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513976e1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cf6554a9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cf6554a9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cf6554a9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cf6554a9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cf6554a9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cf6554a9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cf6554a9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cf6554a9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513976e1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513976e1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513976e1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513976e1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513976e1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513976e1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d39b75c47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d39b75c4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513976e1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4513976e1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cf6554a9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7cf6554a9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cf6554a9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7cf6554a9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cf6554a9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cf6554a9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cf6554a9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cf6554a9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cf6554a97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cf6554a9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cf6554a9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7cf6554a9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4513976e1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4513976e1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513976e1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513976e1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cf6554a9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cf6554a9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513976e1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513976e1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cf6554a9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cf6554a9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513976e1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4513976e1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4513976e1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4513976e1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513976e1f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4513976e1f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513976e1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4513976e1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513976e1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4513976e1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513976e1f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513976e1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513976e1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4513976e1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513976e1f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513976e1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513976e1f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513976e1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cf6554a9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cf6554a9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cf6554a9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7cf6554a9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cf6554a97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7cf6554a9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cf6554a9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7cf6554a9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513976e1f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4513976e1f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4513976e1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4513976e1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cf6554a97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7cf6554a97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3bf7bc09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63bf7bc09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e85a9bc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e85a9bc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63bf7bc0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63bf7bc0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cf6554a9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7cf6554a9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7cf6554a9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7cf6554a9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cf6554a9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7cf6554a9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7cf6554a97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7cf6554a9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cf6554a9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7cf6554a9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7cf6554a97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7cf6554a97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ee75e44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7ee75e44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7cf6554a9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7cf6554a9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cf6554a9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7cf6554a9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7cf6554a97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7cf6554a9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cf6554a97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7cf6554a97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cf6554a97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7cf6554a97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3bf7bc09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63bf7bc09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3bf7bc09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63bf7bc09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3bf7bc09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63bf7bc09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3bf7bc09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63bf7bc09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3bf7bc09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63bf7bc09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3bf7bc09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63bf7bc09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63bf7bc09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63bf7bc09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7ee75e44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7ee75e44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63bf7bc09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63bf7bc09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eea5878d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7eea5878d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811b83e4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811b83e4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eea5878d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7eea5878d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7eea5878db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7eea5878d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11b83e4b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811b83e4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811b83e4b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811b83e4b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7eea5878db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7eea5878db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7eea5878db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7eea5878d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811b83e4b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811b83e4b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7eea5878d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7eea5878d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811b83e4b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811b83e4b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7eea5878db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7eea5878db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7eea5878db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7eea5878db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4.png"/><Relationship Id="rId4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5.png"/><Relationship Id="rId4" Type="http://schemas.openxmlformats.org/officeDocument/2006/relationships/image" Target="../media/image7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8.png"/><Relationship Id="rId4" Type="http://schemas.openxmlformats.org/officeDocument/2006/relationships/image" Target="../media/image6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0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94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9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91.png"/><Relationship Id="rId4" Type="http://schemas.openxmlformats.org/officeDocument/2006/relationships/image" Target="../media/image88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9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6.png"/><Relationship Id="rId4" Type="http://schemas.openxmlformats.org/officeDocument/2006/relationships/image" Target="../media/image10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102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0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0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0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</a:t>
            </a:r>
            <a:r>
              <a:rPr lang="en-GB"/>
              <a:t>transfer , Addressing and Arithmetic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Chapter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Operand Types </a:t>
            </a:r>
            <a:endParaRPr b="1" sz="36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00" y="862675"/>
            <a:ext cx="8839198" cy="288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300" y="3647225"/>
            <a:ext cx="7905851" cy="14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4850"/>
            <a:ext cx="8169100" cy="48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8906"/>
            <a:ext cx="9144000" cy="4665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Direct Memory </a:t>
            </a:r>
            <a:r>
              <a:rPr b="1" lang="en-GB" sz="3600"/>
              <a:t>Operands </a:t>
            </a:r>
            <a:endParaRPr b="1" sz="36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575"/>
            <a:ext cx="8839200" cy="329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638" y="4260450"/>
            <a:ext cx="8118125" cy="8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25" y="1122400"/>
            <a:ext cx="8972651" cy="161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MOV Instruction </a:t>
            </a:r>
            <a:endParaRPr b="1" sz="36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925" y="3047050"/>
            <a:ext cx="76581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50" y="1043001"/>
            <a:ext cx="8585174" cy="16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MOV Instruction </a:t>
            </a:r>
            <a:endParaRPr b="1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MOV Instruction </a:t>
            </a:r>
            <a:endParaRPr b="1" sz="3600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25" y="1273624"/>
            <a:ext cx="9144000" cy="279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MOV Instruction </a:t>
            </a:r>
            <a:endParaRPr b="1" sz="36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575"/>
            <a:ext cx="7894853" cy="40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600" y="3112154"/>
            <a:ext cx="2990950" cy="20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" y="879775"/>
            <a:ext cx="786765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7575"/>
            <a:ext cx="8839199" cy="3426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6539400" y="1583075"/>
            <a:ext cx="245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80000"/>
                </a:solidFill>
              </a:rPr>
              <a:t>16 = 0010h</a:t>
            </a:r>
            <a:endParaRPr sz="12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80000"/>
                </a:solidFill>
              </a:rPr>
              <a:t>0000 0000 0001 0000 b</a:t>
            </a:r>
            <a:endParaRPr sz="12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80000"/>
                </a:solidFill>
              </a:rPr>
              <a:t>1111 1111 1111  0000 b</a:t>
            </a:r>
            <a:r>
              <a:rPr lang="en-GB" sz="1800">
                <a:solidFill>
                  <a:srgbClr val="980000"/>
                </a:solidFill>
              </a:rPr>
              <a:t> </a:t>
            </a:r>
            <a:r>
              <a:rPr lang="en-GB" sz="1200">
                <a:solidFill>
                  <a:srgbClr val="980000"/>
                </a:solidFill>
              </a:rPr>
              <a:t>2s Comp</a:t>
            </a:r>
            <a:endParaRPr sz="1200">
              <a:solidFill>
                <a:srgbClr val="980000"/>
              </a:solidFill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40600" y="4220100"/>
            <a:ext cx="9208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31F20"/>
                </a:solidFill>
              </a:rPr>
              <a:t>The effective result of this example was to use the highest bit of the source operand (1) to fill</a:t>
            </a:r>
            <a:endParaRPr sz="1600">
              <a:solidFill>
                <a:srgbClr val="231F2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31F20"/>
                </a:solidFill>
              </a:rPr>
              <a:t>the upper 16 bits of the destination operand, ECX. This technique is called </a:t>
            </a:r>
            <a:r>
              <a:rPr i="1" lang="en-GB" sz="1600">
                <a:solidFill>
                  <a:srgbClr val="231F20"/>
                </a:solidFill>
              </a:rPr>
              <a:t>sign extension</a:t>
            </a:r>
            <a:r>
              <a:rPr lang="en-GB" sz="1600">
                <a:solidFill>
                  <a:srgbClr val="231F20"/>
                </a:solidFill>
              </a:rPr>
              <a:t>. Of</a:t>
            </a:r>
            <a:endParaRPr sz="1600">
              <a:solidFill>
                <a:srgbClr val="231F2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31F20"/>
                </a:solidFill>
              </a:rPr>
              <a:t>course, we cannot always assume that the highest bit of the source is a 1</a:t>
            </a:r>
            <a:endParaRPr sz="1600">
              <a:solidFill>
                <a:srgbClr val="231F2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575"/>
            <a:ext cx="8039755" cy="40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575"/>
            <a:ext cx="8039755" cy="40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825" y="935400"/>
            <a:ext cx="6419850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7875" y="4201625"/>
            <a:ext cx="6086288" cy="89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575"/>
            <a:ext cx="8839201" cy="3889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6575"/>
            <a:ext cx="8340564" cy="40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50" y="981100"/>
            <a:ext cx="71437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7675" y="2402925"/>
            <a:ext cx="5863890" cy="25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Zero / Sign Extension of Integers  </a:t>
            </a:r>
            <a:endParaRPr b="1"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25" y="47625"/>
            <a:ext cx="8457374" cy="50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XCHG </a:t>
            </a:r>
            <a:r>
              <a:rPr b="1" lang="en-GB" sz="3600"/>
              <a:t>Instruction </a:t>
            </a:r>
            <a:endParaRPr b="1" sz="3600"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50" y="1028925"/>
            <a:ext cx="6520376" cy="32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XCHG Instruction </a:t>
            </a:r>
            <a:endParaRPr b="1" sz="3600"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25" y="814175"/>
            <a:ext cx="8536225" cy="42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Direct-</a:t>
            </a:r>
            <a:r>
              <a:rPr b="1" lang="en-GB" sz="3600"/>
              <a:t>Offset Operands</a:t>
            </a:r>
            <a:endParaRPr b="1" sz="3600"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3864"/>
            <a:ext cx="8839199" cy="4002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Direct-Offset Operands</a:t>
            </a:r>
            <a:endParaRPr b="1" sz="3600"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313750"/>
            <a:ext cx="8839200" cy="1309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825" y="1139744"/>
            <a:ext cx="8839201" cy="1848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Direct-Offset Operands</a:t>
            </a:r>
            <a:endParaRPr b="1" sz="3600"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25" y="814175"/>
            <a:ext cx="8234876" cy="42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004" y="259775"/>
            <a:ext cx="7293649" cy="20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787076" cy="50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175" y="1387650"/>
            <a:ext cx="7242449" cy="34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1405"/>
            <a:ext cx="7052000" cy="3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1405"/>
            <a:ext cx="7052000" cy="3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8350" y="1449963"/>
            <a:ext cx="323850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3825" y="2424118"/>
            <a:ext cx="191452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Addition and Subtraction </a:t>
            </a:r>
            <a:endParaRPr b="1" sz="3600"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200" y="1012700"/>
            <a:ext cx="6105600" cy="3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INC and DEC Instructions </a:t>
            </a:r>
            <a:endParaRPr b="1" sz="3600"/>
          </a:p>
        </p:txBody>
      </p:sp>
      <p:pic>
        <p:nvPicPr>
          <p:cNvPr id="234" name="Google Shape;23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0" y="814175"/>
            <a:ext cx="9144000" cy="428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600" y="1252548"/>
            <a:ext cx="3933051" cy="14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Addition and Subtraction </a:t>
            </a:r>
            <a:endParaRPr b="1" sz="3600"/>
          </a:p>
        </p:txBody>
      </p:sp>
      <p:pic>
        <p:nvPicPr>
          <p:cNvPr id="241" name="Google Shape;2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75" y="862650"/>
            <a:ext cx="7590625" cy="42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Addition and Subtraction </a:t>
            </a:r>
            <a:endParaRPr b="1" sz="3600"/>
          </a:p>
        </p:txBody>
      </p:sp>
      <p:pic>
        <p:nvPicPr>
          <p:cNvPr id="247" name="Google Shape;2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00" y="935400"/>
            <a:ext cx="7382824" cy="40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Addition and Subtraction </a:t>
            </a:r>
            <a:endParaRPr b="1" sz="3600"/>
          </a:p>
        </p:txBody>
      </p:sp>
      <p:pic>
        <p:nvPicPr>
          <p:cNvPr id="253" name="Google Shape;25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875" y="862650"/>
            <a:ext cx="7351651" cy="41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idx="4294967295" type="ctrTitle"/>
          </p:nvPr>
        </p:nvSpPr>
        <p:spPr>
          <a:xfrm>
            <a:off x="736750" y="145475"/>
            <a:ext cx="78159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NEG Instruction </a:t>
            </a:r>
            <a:endParaRPr b="1" sz="3600"/>
          </a:p>
        </p:txBody>
      </p:sp>
      <p:pic>
        <p:nvPicPr>
          <p:cNvPr id="259" name="Google Shape;2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25" y="966575"/>
            <a:ext cx="6067425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idx="4294967295" type="ctrTitle"/>
          </p:nvPr>
        </p:nvSpPr>
        <p:spPr>
          <a:xfrm>
            <a:off x="50950" y="41575"/>
            <a:ext cx="90930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Implementing Arithmetic Expressions</a:t>
            </a:r>
            <a:endParaRPr b="1" sz="3600"/>
          </a:p>
        </p:txBody>
      </p:sp>
      <p:pic>
        <p:nvPicPr>
          <p:cNvPr id="265" name="Google Shape;26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700" y="914625"/>
            <a:ext cx="7268525" cy="41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200" y="319616"/>
            <a:ext cx="6869349" cy="45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75" y="267125"/>
            <a:ext cx="8189850" cy="47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75" y="0"/>
            <a:ext cx="83543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320375"/>
            <a:ext cx="7126525" cy="46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163" y="153275"/>
            <a:ext cx="7153275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853" y="72725"/>
            <a:ext cx="7138200" cy="47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225" y="107800"/>
            <a:ext cx="7104425" cy="48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302" y="60609"/>
            <a:ext cx="7143375" cy="499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75" y="0"/>
            <a:ext cx="8044376" cy="50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5"/>
          <p:cNvSpPr txBox="1"/>
          <p:nvPr/>
        </p:nvSpPr>
        <p:spPr>
          <a:xfrm>
            <a:off x="394850" y="3023775"/>
            <a:ext cx="29010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For subtraction, </a:t>
            </a:r>
            <a:r>
              <a:rPr b="1" lang="en-GB" sz="1100">
                <a:solidFill>
                  <a:schemeClr val="dk1"/>
                </a:solidFill>
              </a:rPr>
              <a:t>the Carry Flag (CF) indicates a borrow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the destination operand (minuend) &lt; source operand (subtrahend), then a borrow is required → </a:t>
            </a:r>
            <a:r>
              <a:rPr b="1" lang="en-GB" sz="1100">
                <a:solidFill>
                  <a:schemeClr val="dk1"/>
                </a:solidFill>
              </a:rPr>
              <a:t>CF = 1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Otherwise, CF = 0.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16" name="Google Shape;31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963" y="4513975"/>
            <a:ext cx="378142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00" y="55000"/>
            <a:ext cx="7833525" cy="495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213" y="170375"/>
            <a:ext cx="6977575" cy="48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50" y="75775"/>
            <a:ext cx="7944350" cy="49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63" y="258925"/>
            <a:ext cx="7877276" cy="48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68400"/>
            <a:ext cx="7667700" cy="50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27" y="20097"/>
            <a:ext cx="822034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624" y="0"/>
            <a:ext cx="69707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880"/>
            <a:ext cx="9143999" cy="4743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193"/>
            <a:ext cx="9144000" cy="4831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28" y="147678"/>
            <a:ext cx="7318300" cy="46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6"/>
          <p:cNvSpPr txBox="1"/>
          <p:nvPr>
            <p:ph type="title"/>
          </p:nvPr>
        </p:nvSpPr>
        <p:spPr>
          <a:xfrm>
            <a:off x="311700" y="60550"/>
            <a:ext cx="85206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rgbClr val="231F20"/>
                </a:solidFill>
                <a:latin typeface="Book Antiqua"/>
                <a:ea typeface="Book Antiqua"/>
                <a:cs typeface="Book Antiqua"/>
                <a:sym typeface="Book Antiqua"/>
              </a:rPr>
              <a:t>      Data-Related Operators and Directives</a:t>
            </a:r>
            <a:endParaRPr b="1" sz="3000">
              <a:solidFill>
                <a:srgbClr val="231F2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231F20"/>
                </a:solidFill>
                <a:latin typeface="Book Antiqua"/>
                <a:ea typeface="Book Antiqua"/>
                <a:cs typeface="Book Antiqua"/>
                <a:sym typeface="Book Antiqua"/>
              </a:rPr>
              <a:t>OFFSET Operator </a:t>
            </a:r>
            <a:endParaRPr b="1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76" name="Google Shape;376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5658"/>
            <a:ext cx="9144001" cy="2952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7"/>
          <p:cNvSpPr txBox="1"/>
          <p:nvPr>
            <p:ph type="title"/>
          </p:nvPr>
        </p:nvSpPr>
        <p:spPr>
          <a:xfrm>
            <a:off x="311700" y="60550"/>
            <a:ext cx="85206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231F20"/>
                </a:solidFill>
                <a:latin typeface="Book Antiqua"/>
                <a:ea typeface="Book Antiqua"/>
                <a:cs typeface="Book Antiqua"/>
                <a:sym typeface="Book Antiqua"/>
              </a:rPr>
              <a:t>     OFFSET Operator </a:t>
            </a:r>
            <a:endParaRPr b="1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383" name="Google Shape;38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8000"/>
            <a:ext cx="8839201" cy="3395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25" y="95900"/>
            <a:ext cx="7408763" cy="49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511"/>
            <a:ext cx="9144001" cy="2660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125" y="0"/>
            <a:ext cx="78482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0" y="778262"/>
            <a:ext cx="9144001" cy="436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7075" y="-12"/>
            <a:ext cx="333375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7075" y="-12"/>
            <a:ext cx="33337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756877"/>
            <a:ext cx="9143999" cy="223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50" y="146650"/>
            <a:ext cx="7479875" cy="485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00" y="-64100"/>
            <a:ext cx="7927050" cy="52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500" y="126425"/>
            <a:ext cx="7499275" cy="49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75" y="175816"/>
            <a:ext cx="7970775" cy="47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25" y="350050"/>
            <a:ext cx="8404575" cy="463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Book Antiqua"/>
                <a:ea typeface="Book Antiqua"/>
                <a:cs typeface="Book Antiqua"/>
                <a:sym typeface="Book Antiqua"/>
              </a:rPr>
              <a:t>TYPE Operator </a:t>
            </a:r>
            <a:endParaRPr b="1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444" name="Google Shape;444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8284"/>
            <a:ext cx="9144001" cy="445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Book Antiqua"/>
                <a:ea typeface="Book Antiqua"/>
                <a:cs typeface="Book Antiqua"/>
                <a:sym typeface="Book Antiqua"/>
              </a:rPr>
              <a:t>LENGTHOF</a:t>
            </a:r>
            <a:r>
              <a:rPr b="1" lang="en-GB" sz="3000">
                <a:latin typeface="Book Antiqua"/>
                <a:ea typeface="Book Antiqua"/>
                <a:cs typeface="Book Antiqua"/>
                <a:sym typeface="Book Antiqua"/>
              </a:rPr>
              <a:t> Operator </a:t>
            </a:r>
            <a:endParaRPr b="1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451" name="Google Shape;45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5" y="710225"/>
            <a:ext cx="9012451" cy="44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latin typeface="Book Antiqua"/>
                <a:ea typeface="Book Antiqua"/>
                <a:cs typeface="Book Antiqua"/>
                <a:sym typeface="Book Antiqua"/>
              </a:rPr>
              <a:t>SIZE</a:t>
            </a:r>
            <a:r>
              <a:rPr b="1" lang="en-GB" sz="3000">
                <a:latin typeface="Book Antiqua"/>
                <a:ea typeface="Book Antiqua"/>
                <a:cs typeface="Book Antiqua"/>
                <a:sym typeface="Book Antiqua"/>
              </a:rPr>
              <a:t>OF Operator </a:t>
            </a:r>
            <a:endParaRPr b="1" sz="30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457" name="Google Shape;45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200" cy="2357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050" y="111125"/>
            <a:ext cx="7556000" cy="49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350" y="0"/>
            <a:ext cx="7515301" cy="49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975" y="68000"/>
            <a:ext cx="7040850" cy="45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83"/>
          <p:cNvSpPr txBox="1"/>
          <p:nvPr/>
        </p:nvSpPr>
        <p:spPr>
          <a:xfrm>
            <a:off x="82025" y="44224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Book Antiqua"/>
                <a:ea typeface="Book Antiqua"/>
                <a:cs typeface="Book Antiqua"/>
                <a:sym typeface="Book Antiqua"/>
              </a:rPr>
              <a:t>A common use of LABEL is to provide an alternative name and size  attribute for the variable declared next in the data segment.</a:t>
            </a:r>
            <a:endParaRPr b="1" sz="2000"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63" y="287320"/>
            <a:ext cx="6950682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154" y="67336"/>
            <a:ext cx="7533925" cy="50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400" y="178863"/>
            <a:ext cx="7000075" cy="47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625" y="153703"/>
            <a:ext cx="6866749" cy="47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050" y="106080"/>
            <a:ext cx="7943025" cy="486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974" y="69763"/>
            <a:ext cx="7165025" cy="49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050" y="0"/>
            <a:ext cx="726417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2400"/>
            <a:ext cx="850438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20" y="0"/>
            <a:ext cx="81603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0"/>
            <a:ext cx="403454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34" name="Google Shape;53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50" y="0"/>
            <a:ext cx="87101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00" y="0"/>
            <a:ext cx="8592874" cy="40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85500"/>
            <a:ext cx="9143999" cy="12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</a:t>
            </a:r>
            <a:endParaRPr/>
          </a:p>
        </p:txBody>
      </p:sp>
      <p:pic>
        <p:nvPicPr>
          <p:cNvPr id="546" name="Google Shape;54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38" y="1212138"/>
            <a:ext cx="269557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</a:t>
            </a:r>
            <a:endParaRPr/>
          </a:p>
        </p:txBody>
      </p:sp>
      <p:pic>
        <p:nvPicPr>
          <p:cNvPr id="552" name="Google Shape;55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550" y="1265675"/>
            <a:ext cx="27241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100" y="1170125"/>
            <a:ext cx="4943500" cy="263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9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1" y="0"/>
            <a:ext cx="90527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9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7" name="Google Shape;56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00" y="-318475"/>
            <a:ext cx="8344425" cy="45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50" y="1756700"/>
            <a:ext cx="8696325" cy="28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25" y="-12"/>
            <a:ext cx="88487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825" y="4498575"/>
            <a:ext cx="8924374" cy="5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75" y="0"/>
            <a:ext cx="84205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2"/>
          <p:cNvSpPr txBox="1"/>
          <p:nvPr>
            <p:ph type="title"/>
          </p:nvPr>
        </p:nvSpPr>
        <p:spPr>
          <a:xfrm>
            <a:off x="279850" y="102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/>
              <a:t>Nested Loop</a:t>
            </a:r>
            <a:endParaRPr b="1" sz="3600"/>
          </a:p>
        </p:txBody>
      </p:sp>
      <p:sp>
        <p:nvSpPr>
          <p:cNvPr id="585" name="Google Shape;585;p10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6" name="Google Shape;58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25" y="907675"/>
            <a:ext cx="8690149" cy="436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74" y="0"/>
            <a:ext cx="85106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49" y="0"/>
            <a:ext cx="85424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