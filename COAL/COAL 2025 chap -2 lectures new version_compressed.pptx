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</p:sldIdLst>
  <p:sldSz cy="6858000" cx="12192000"/>
  <p:notesSz cx="6858000" cy="9144000"/>
  <p:embeddedFontLst>
    <p:embeddedFont>
      <p:font typeface="Book Antiqua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6" roundtripDataSignature="AMtx7mhO7x+XWgdoat+9e4fBuq1i+/Wg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BookAntiqua-bold.fntdata"/><Relationship Id="rId72" Type="http://schemas.openxmlformats.org/officeDocument/2006/relationships/font" Target="fonts/BookAntiqua-regular.fntdata"/><Relationship Id="rId31" Type="http://schemas.openxmlformats.org/officeDocument/2006/relationships/slide" Target="slides/slide27.xml"/><Relationship Id="rId75" Type="http://schemas.openxmlformats.org/officeDocument/2006/relationships/font" Target="fonts/BookAntiqua-boldItalic.fntdata"/><Relationship Id="rId30" Type="http://schemas.openxmlformats.org/officeDocument/2006/relationships/slide" Target="slides/slide26.xml"/><Relationship Id="rId74" Type="http://schemas.openxmlformats.org/officeDocument/2006/relationships/font" Target="fonts/BookAntiqua-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76" Type="http://customschemas.google.com/relationships/presentationmetadata" Target="metadata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6d28b2e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6d28b2e6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6d28b2e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6d28b2e6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6d28b2e6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76d28b2e6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6d28b2e6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76d28b2e6a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6d28b2e6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76d28b2e6a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6d28b2e6a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6d28b2e6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6d28b2e6a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6d28b2e6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76232d72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76232d7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50c3710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50c3710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ab17fd1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ab17fd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78a258d2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778a258d29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992b96b9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7992b96b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78a258d2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778a258d2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778a258d2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778a258d29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78a258d2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778a258d29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78a258d2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778a258d29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78a258d2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778a258d2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78a258d2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78a258d2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78a258d29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778a258d2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Relationship Id="rId4" Type="http://schemas.openxmlformats.org/officeDocument/2006/relationships/image" Target="../media/image5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272" y="2479653"/>
            <a:ext cx="4013447" cy="315791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1305059" y="19508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Computer Organization and Assembly Language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305059" y="6014433"/>
            <a:ext cx="9144000" cy="62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Dr. Rabia Tabassum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Chapter -2 Topics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2.1 General Concepts 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Basic Microcomputer Design 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Instruction Execution cycle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Reading from Memory 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Program Run 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2.2 x86 Architecture Details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Mode of Operation (including detail from 2.3)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Basic Execution Environment ( All types of Registers) 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Floating-Point Unit 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632138" y="17700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Basic Microcomputer Design</a:t>
            </a:r>
            <a:endParaRPr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75" y="2152325"/>
            <a:ext cx="10515600" cy="40939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3"/>
          <p:cNvSpPr txBox="1"/>
          <p:nvPr/>
        </p:nvSpPr>
        <p:spPr>
          <a:xfrm>
            <a:off x="0" y="1108375"/>
            <a:ext cx="121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31F20"/>
                </a:solidFill>
              </a:rPr>
              <a:t>Assembly language is a great tool for learning how a  computer works, and it requires you to have a working knowledge of computer hardware. </a:t>
            </a:r>
            <a:endParaRPr sz="2400">
              <a:solidFill>
                <a:srgbClr val="231F2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606381" y="0"/>
            <a:ext cx="10515600" cy="1043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Basic Microcomputer Design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18942" y="935899"/>
            <a:ext cx="11973058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central processor unit (CPU): </a:t>
            </a:r>
            <a:endParaRPr b="1" sz="36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Where calculations and logic operations are performed: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contains a limited number of storage locations 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named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egisters,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a high-frequency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Clock</a:t>
            </a: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a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Control Unit</a:t>
            </a: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,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an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Arithmetic Logic Unit </a:t>
            </a:r>
            <a:endParaRPr b="1"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950" y="2114825"/>
            <a:ext cx="3926750" cy="24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50" y="4780675"/>
            <a:ext cx="111442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6d28b2e6a_0_1"/>
          <p:cNvSpPr txBox="1"/>
          <p:nvPr>
            <p:ph type="title"/>
          </p:nvPr>
        </p:nvSpPr>
        <p:spPr>
          <a:xfrm>
            <a:off x="606381" y="0"/>
            <a:ext cx="105156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Basic Microcomputer Design</a:t>
            </a:r>
            <a:endParaRPr/>
          </a:p>
        </p:txBody>
      </p:sp>
      <p:sp>
        <p:nvSpPr>
          <p:cNvPr id="113" name="Google Shape;113;g376d28b2e6a_0_1"/>
          <p:cNvSpPr/>
          <p:nvPr/>
        </p:nvSpPr>
        <p:spPr>
          <a:xfrm>
            <a:off x="218942" y="935899"/>
            <a:ext cx="11973000" cy="6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Memory storage unit</a:t>
            </a:r>
            <a:endParaRPr sz="3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memory storage unit is where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instructions </a:t>
            </a: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and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data</a:t>
            </a: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are held while a computer program is running.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storage unit receives requests for data from the CPU, transfers data from random access memory (RAM) to the CPU, and transfers data from the CPU into memory.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All processing of data takes place within the CPU, so programs residing in memory must be copied into the CPU before they can execute.</a:t>
            </a:r>
            <a:endParaRPr/>
          </a:p>
        </p:txBody>
      </p:sp>
      <p:pic>
        <p:nvPicPr>
          <p:cNvPr id="114" name="Google Shape;114;g376d28b2e6a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300" y="4285924"/>
            <a:ext cx="5524500" cy="24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722290" y="1976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BUSES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8005" y="860480"/>
            <a:ext cx="11784300" cy="5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A bus is a group of parallel wires that transfer data from one part of the  computer to another. These buses are the eyes, nose, and ears of the processor.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524" y="2440975"/>
            <a:ext cx="816032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" y="3991706"/>
            <a:ext cx="10703199" cy="20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6d28b2e6a_0_21"/>
          <p:cNvSpPr txBox="1"/>
          <p:nvPr>
            <p:ph type="title"/>
          </p:nvPr>
        </p:nvSpPr>
        <p:spPr>
          <a:xfrm>
            <a:off x="722290" y="19769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BUSES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8" name="Google Shape;128;g376d28b2e6a_0_21"/>
          <p:cNvSpPr txBox="1"/>
          <p:nvPr>
            <p:ph idx="1" type="body"/>
          </p:nvPr>
        </p:nvSpPr>
        <p:spPr>
          <a:xfrm>
            <a:off x="88005" y="860480"/>
            <a:ext cx="11784300" cy="5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A computer system usually contains four bus types: </a:t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t/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    Data, I/O, Control, and Address.</a:t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t/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The </a:t>
            </a:r>
            <a:r>
              <a:rPr b="1" lang="en-US" sz="9600">
                <a:latin typeface="Book Antiqua"/>
                <a:ea typeface="Book Antiqua"/>
                <a:cs typeface="Book Antiqua"/>
                <a:sym typeface="Book Antiqua"/>
              </a:rPr>
              <a:t>data bus </a:t>
            </a: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transfers instructions and data between the CPU and memory. 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It is bidirectional. 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For Read operation : move – Memory to Processor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For Write operation : move –Processor to Memory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t/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The </a:t>
            </a:r>
            <a:r>
              <a:rPr b="1" lang="en-US" sz="9600">
                <a:latin typeface="Book Antiqua"/>
                <a:ea typeface="Book Antiqua"/>
                <a:cs typeface="Book Antiqua"/>
                <a:sym typeface="Book Antiqua"/>
              </a:rPr>
              <a:t>address bus </a:t>
            </a: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holds the addresses of instructions and data when the</a:t>
            </a:r>
            <a:endParaRPr sz="96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currently executing instruction transfers data between the CPU and memory.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9166"/>
              <a:buNone/>
            </a:pPr>
            <a:r>
              <a:rPr lang="en-US" sz="9600">
                <a:latin typeface="Book Antiqua"/>
                <a:ea typeface="Book Antiqua"/>
                <a:cs typeface="Book Antiqua"/>
                <a:sym typeface="Book Antiqua"/>
              </a:rPr>
              <a:t>It is unidirectional and address always travel from processor to memory.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722290" y="1976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BUSES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-1" y="1065770"/>
            <a:ext cx="11784169" cy="53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control bus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uses binary signals to synchronize actions of all devices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attached to the system bus.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It is special and relatively complex , because different lines comprising it behave differently.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I/O bus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transfers data between the CPU and the system input/output devices.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670775" y="796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Clock and Clock Cycles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0" y="1181800"/>
            <a:ext cx="121920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Clock synchronizes all CPU and BUS operations. 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– Clock is used to trigger events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– Clock cycles( Machine cycles)  measure time of a single operation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A machine instruction requires at least one clock cycle to execute.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Few instructions require in excess of 50 clocks (the multiply instruction on the 8088 processor, for example)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duration of a clock cycle is the reciprocal of the clock’s speed. 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For 1GHz frequency ---  a clock cycle of 1 nanosecond.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Instructions requiring memory access often have empty clock cycles called </a:t>
            </a: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wait states</a:t>
            </a: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, because of the differences in the speeds of the CPU, the system bus, and memory circuits.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1613" y="3690088"/>
            <a:ext cx="300037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1495022" y="1340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Instruction Execution Cycle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0" y="1027906"/>
            <a:ext cx="11818513" cy="5599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CPU go through a predefined sequence of steps to execute a machine instruction, called the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instruction execution cycle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execution of a single machine instruction can be divided into a sequence of individual operations.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primary operations :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Fetch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,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Decode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, and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Execute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Two more steps are required when the instruction uses a memory operand: 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Fetch Operand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and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Store output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Operand.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PC: Program Control Register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Fetch 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Decode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Fetch Operand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Execute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Store Output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48" name="Google Shape;14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025" y="3494400"/>
            <a:ext cx="7866976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6d28b2e6a_0_32"/>
          <p:cNvSpPr txBox="1"/>
          <p:nvPr>
            <p:ph idx="1" type="body"/>
          </p:nvPr>
        </p:nvSpPr>
        <p:spPr>
          <a:xfrm>
            <a:off x="91224" y="796858"/>
            <a:ext cx="12100800" cy="60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54" name="Google Shape;154;g376d28b2e6a_0_32"/>
          <p:cNvSpPr txBox="1"/>
          <p:nvPr/>
        </p:nvSpPr>
        <p:spPr>
          <a:xfrm>
            <a:off x="1495022" y="134078"/>
            <a:ext cx="10515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lang="en-US" sz="4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Instruction Execution Cycle</a:t>
            </a:r>
            <a:br>
              <a:rPr b="1" lang="en-US" sz="4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="1" sz="4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55" name="Google Shape;155;g376d28b2e6a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25" y="831125"/>
            <a:ext cx="11919400" cy="59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6d28b2e6a_0_46"/>
          <p:cNvSpPr txBox="1"/>
          <p:nvPr>
            <p:ph type="title"/>
          </p:nvPr>
        </p:nvSpPr>
        <p:spPr>
          <a:xfrm>
            <a:off x="1495022" y="13407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Instruction Execution Cycle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1" name="Google Shape;161;g376d28b2e6a_0_46"/>
          <p:cNvSpPr txBox="1"/>
          <p:nvPr>
            <p:ph idx="1" type="body"/>
          </p:nvPr>
        </p:nvSpPr>
        <p:spPr>
          <a:xfrm>
            <a:off x="0" y="1027906"/>
            <a:ext cx="11818500" cy="5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62" name="Google Shape;162;g376d28b2e6a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13" y="1085700"/>
            <a:ext cx="11818524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76d28b2e6a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087075"/>
            <a:ext cx="11626376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idx="1" type="body"/>
          </p:nvPr>
        </p:nvSpPr>
        <p:spPr>
          <a:xfrm>
            <a:off x="91224" y="796858"/>
            <a:ext cx="12100775" cy="6061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An operand is a value that is either an input or an output to an operation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For example, the expression Z = X + Y has two input operands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(X and Y) and a single output operand (Z)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In order to read program instructions  from memory,  an address is placed on the address bus 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The memory controller places the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equested code on the data bus </a:t>
            </a:r>
            <a:r>
              <a:rPr lang="en-US" sz="26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the code available inside the code cache.</a:t>
            </a:r>
            <a:endParaRPr sz="2600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spcBef>
                <a:spcPts val="100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-US" sz="26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instruction pointer’s value determines which instruction will be executed next. </a:t>
            </a:r>
            <a:endParaRPr sz="2600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spcBef>
                <a:spcPts val="100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-US" sz="26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instruction is analyzed by the instruction decoder, causing the appropriate digital signals to be sent to the control unit, which coordinates the ALU and floating-point unit.</a:t>
            </a:r>
            <a:endParaRPr sz="2600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spcBef>
                <a:spcPts val="100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-US" sz="26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the control bus is not shown in this figure, it carries signals that use the system clock to coordinate the transfer of data between the different CPU components.</a:t>
            </a:r>
            <a:endParaRPr sz="2600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495022" y="134078"/>
            <a:ext cx="10515600" cy="8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lang="en-US" sz="4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Instruction Execution Cycle</a:t>
            </a:r>
            <a:br>
              <a:rPr b="1" lang="en-US" sz="4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="1" sz="4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628337" y="1702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Reading from Memory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283576" y="1360925"/>
            <a:ext cx="11799900" cy="51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 a rule, computers read memory much more slowly than they access internal registers.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Reading a single value from memory involves four separate steps: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1. Place the address of the value you want to read on the address bus.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2. Assert (change the value of) the processor’s RD (read) pin.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3. Wait few clock cycle for the memory chips to respond.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4. Copy the data from the data bus into the destination operand.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Each of these steps generally requires a single clock cycle,</a:t>
            </a:r>
            <a:endParaRPr/>
          </a:p>
        </p:txBody>
      </p:sp>
      <p:pic>
        <p:nvPicPr>
          <p:cNvPr id="176" name="Google Shape;1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50" y="2476050"/>
            <a:ext cx="11963850" cy="40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628337" y="1702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Reading from Memory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/>
          </a:p>
        </p:txBody>
      </p:sp>
      <p:pic>
        <p:nvPicPr>
          <p:cNvPr id="182" name="Google Shape;1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325" y="1149450"/>
            <a:ext cx="10970351" cy="54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6d28b2e6a_0_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Cache</a:t>
            </a:r>
            <a:endParaRPr/>
          </a:p>
        </p:txBody>
      </p:sp>
      <p:sp>
        <p:nvSpPr>
          <p:cNvPr id="188" name="Google Shape;188;g376d28b2e6a_0_61"/>
          <p:cNvSpPr txBox="1"/>
          <p:nvPr>
            <p:ph idx="1" type="body"/>
          </p:nvPr>
        </p:nvSpPr>
        <p:spPr>
          <a:xfrm>
            <a:off x="69950" y="1382300"/>
            <a:ext cx="12052200" cy="5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CPU designers figured out that computer memory creates a speed bottleneck – because most programs have to access variables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To reduce the amount of time spent in reading and writing memory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– the most recently used instructions and data are stored in high- speed memory called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Cache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The idea is that a program is more likely want to access the same memory and instructions repeatedly – so cache keeps these values where they can be accessed quickly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76d28b2e6a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588" y="180126"/>
            <a:ext cx="7296825" cy="23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76d28b2e6a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475" y="2346300"/>
            <a:ext cx="11397774" cy="42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90259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Cache</a:t>
            </a:r>
            <a:endParaRPr/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0" y="1315947"/>
            <a:ext cx="12052200" cy="5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When the CPU begins to execute a program, it loads the next thousand instructions (for example) into cache </a:t>
            </a:r>
            <a:endParaRPr sz="3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– The assumption is that these instructions will be needed in the</a:t>
            </a:r>
            <a:endParaRPr sz="3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near future. </a:t>
            </a:r>
            <a:endParaRPr sz="3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• If it happens to be a loop in that block of code, the same instructions will be in cache </a:t>
            </a:r>
            <a:endParaRPr sz="3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• When the processor is able to find its data in cache memory, we call that a </a:t>
            </a:r>
            <a:r>
              <a:rPr b="1" lang="en-US" sz="3000">
                <a:latin typeface="Book Antiqua"/>
                <a:ea typeface="Book Antiqua"/>
                <a:cs typeface="Book Antiqua"/>
                <a:sym typeface="Book Antiqua"/>
              </a:rPr>
              <a:t>C</a:t>
            </a:r>
            <a:r>
              <a:rPr b="1" lang="en-US" sz="3000">
                <a:latin typeface="Book Antiqua"/>
                <a:ea typeface="Book Antiqua"/>
                <a:cs typeface="Book Antiqua"/>
                <a:sym typeface="Book Antiqua"/>
              </a:rPr>
              <a:t>ache Hit </a:t>
            </a:r>
            <a:endParaRPr b="1" sz="3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>
                <a:latin typeface="Book Antiqua"/>
                <a:ea typeface="Book Antiqua"/>
                <a:cs typeface="Book Antiqua"/>
                <a:sym typeface="Book Antiqua"/>
              </a:rPr>
              <a:t>• On the other hand, if the CPU tries to find something in cache and it’s not there, we call that a </a:t>
            </a:r>
            <a:r>
              <a:rPr b="1" lang="en-US" sz="3000">
                <a:latin typeface="Book Antiqua"/>
                <a:ea typeface="Book Antiqua"/>
                <a:cs typeface="Book Antiqua"/>
                <a:sym typeface="Book Antiqua"/>
              </a:rPr>
              <a:t>C</a:t>
            </a:r>
            <a:r>
              <a:rPr b="1" lang="en-US" sz="3000">
                <a:latin typeface="Book Antiqua"/>
                <a:ea typeface="Book Antiqua"/>
                <a:cs typeface="Book Antiqua"/>
                <a:sym typeface="Book Antiqua"/>
              </a:rPr>
              <a:t>ache Miss</a:t>
            </a:r>
            <a:endParaRPr b="1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76d28b2e6a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575" y="545250"/>
            <a:ext cx="5132050" cy="25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76d28b2e6a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700" y="3525000"/>
            <a:ext cx="7503553" cy="256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type="title"/>
          </p:nvPr>
        </p:nvSpPr>
        <p:spPr>
          <a:xfrm>
            <a:off x="24245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x86 family Cache types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12" name="Google Shape;212;p17"/>
          <p:cNvSpPr txBox="1"/>
          <p:nvPr>
            <p:ph idx="1" type="body"/>
          </p:nvPr>
        </p:nvSpPr>
        <p:spPr>
          <a:xfrm>
            <a:off x="0" y="911225"/>
            <a:ext cx="824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Cache memory for the x86 family comes in three types.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Level-1 cache (or primary cache) is stored right on the CPU.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Level-2 cache (or secondary cache) is a little bit slower, and attached to the CPU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Level-3 cache (or secondary cache) is a more slower, and attached to the CPU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213" name="Google Shape;2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0825" y="365124"/>
            <a:ext cx="3631175" cy="45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700" y="4937100"/>
            <a:ext cx="11008950" cy="18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503350" y="171941"/>
            <a:ext cx="116886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Why cache memory is faster than conventional  RAM?</a:t>
            </a:r>
            <a:endParaRPr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It’s because cache memory is constructed from a special type of memory chip called static RAM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- It’s expensive, but it does not have to be constantly refreshed in order to keep its contents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Conventional memory, known as dynamic RAM, refreshed constantly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It’s much slower, and cheaper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Loading and Executing a Program</a:t>
            </a:r>
            <a:endParaRPr/>
          </a:p>
        </p:txBody>
      </p:sp>
      <p:sp>
        <p:nvSpPr>
          <p:cNvPr id="226" name="Google Shape;226;p19"/>
          <p:cNvSpPr txBox="1"/>
          <p:nvPr>
            <p:ph idx="1" type="body"/>
          </p:nvPr>
        </p:nvSpPr>
        <p:spPr>
          <a:xfrm>
            <a:off x="113250" y="1825625"/>
            <a:ext cx="11998200" cy="4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4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The operating system (OS) searches for the program’s filename in the current disk directory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If it cannot find the name there, it searches a predetermined list of directories (called paths) for the filename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If the OS fails to find the program filename, it issues an error message.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If the program file is found, the OS retrieves basic information about the program’s file from the disk directory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including the file size and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its physical location on the disk drive.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838200" y="-64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Loading and Executing a Program</a:t>
            </a:r>
            <a:endParaRPr/>
          </a:p>
        </p:txBody>
      </p:sp>
      <p:pic>
        <p:nvPicPr>
          <p:cNvPr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00" y="1095100"/>
            <a:ext cx="9348550" cy="56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Loading and Executing a Program</a:t>
            </a:r>
            <a:endParaRPr/>
          </a:p>
        </p:txBody>
      </p:sp>
      <p:sp>
        <p:nvSpPr>
          <p:cNvPr id="238" name="Google Shape;238;p21"/>
          <p:cNvSpPr txBox="1"/>
          <p:nvPr>
            <p:ph idx="1" type="body"/>
          </p:nvPr>
        </p:nvSpPr>
        <p:spPr>
          <a:xfrm>
            <a:off x="0" y="1825625"/>
            <a:ext cx="11972700" cy="4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• The OS determines the next available location in memory and loads the program file into memory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It allocates a block of memory to the program and enters information about the program’s size and location into a table (sometimes called a descriptor table).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The OS also adjust the values of pointers within the program so they contain addresses of program data.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OS begins execution of the program’s first machine instruction (its entry point).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Loading and Executing a Program</a:t>
            </a:r>
            <a:endParaRPr/>
          </a:p>
        </p:txBody>
      </p:sp>
      <p:sp>
        <p:nvSpPr>
          <p:cNvPr id="244" name="Google Shape;244;p22"/>
          <p:cNvSpPr txBox="1"/>
          <p:nvPr>
            <p:ph idx="1" type="body"/>
          </p:nvPr>
        </p:nvSpPr>
        <p:spPr>
          <a:xfrm>
            <a:off x="80700" y="1690700"/>
            <a:ext cx="121113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• As soon as the program begins running, it is called a process.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• The OS assigns the process an identification number (process ID),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which is used to keep track of it while running.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• It is the OS’s job to track the execution of the process and to respond to requests for system resources.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Examples of resources are memory, disk files, and input-output devices.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• When the process ends, it is removed from memory.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231F20"/>
                </a:solidFill>
                <a:latin typeface="Book Antiqua"/>
                <a:ea typeface="Book Antiqua"/>
                <a:cs typeface="Book Antiqua"/>
                <a:sym typeface="Book Antiqua"/>
              </a:rPr>
              <a:t>Basic Execution Environment</a:t>
            </a:r>
            <a:endParaRPr b="1" sz="3600">
              <a:solidFill>
                <a:srgbClr val="231F2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600">
                <a:latin typeface="Book Antiqua"/>
                <a:ea typeface="Book Antiqua"/>
                <a:cs typeface="Book Antiqua"/>
                <a:sym typeface="Book Antiqua"/>
              </a:rPr>
              <a:t>Address Space</a:t>
            </a:r>
            <a:endParaRPr b="1"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0" name="Google Shape;250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1" name="Google Shape;2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925" y="1690700"/>
            <a:ext cx="12255876" cy="51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76232d72f_0_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4800">
                <a:solidFill>
                  <a:srgbClr val="231F20"/>
                </a:solidFill>
                <a:latin typeface="Book Antiqua"/>
                <a:ea typeface="Book Antiqua"/>
                <a:cs typeface="Book Antiqua"/>
                <a:sym typeface="Book Antiqua"/>
              </a:rPr>
              <a:t>Basic Program Execution Registers</a:t>
            </a:r>
            <a:endParaRPr b="1" i="1" sz="4800">
              <a:solidFill>
                <a:srgbClr val="231F2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7" name="Google Shape;257;g3776232d72f_0_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g3776232d72f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88" y="1700938"/>
            <a:ext cx="10353675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5" name="Google Shape;2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4675" y="1266825"/>
            <a:ext cx="5962650" cy="43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875" y="203475"/>
            <a:ext cx="11105099" cy="64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50" y="399750"/>
            <a:ext cx="10463500" cy="64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50c371016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650c371016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g3650c37101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825" y="990600"/>
            <a:ext cx="356235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25" y="74150"/>
            <a:ext cx="10796700" cy="65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2" name="Google Shape;2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525" y="283925"/>
            <a:ext cx="10777775" cy="63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13" y="32200"/>
            <a:ext cx="11163375" cy="67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9" y="454075"/>
            <a:ext cx="9292926" cy="60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0925" y="365118"/>
            <a:ext cx="8599175" cy="56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3" name="Google Shape;313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4" name="Google Shape;3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589" y="377513"/>
            <a:ext cx="10328825" cy="61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0" name="Google Shape;320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1" name="Google Shape;3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625" y="365125"/>
            <a:ext cx="10586175" cy="599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8" name="Google Shape;3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0"/>
            <a:ext cx="11353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ab17fd1b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7ab17fd1b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g37ab17fd1b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338" y="1128713"/>
            <a:ext cx="8315325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42" name="Google Shape;3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551" y="441325"/>
            <a:ext cx="10434474" cy="60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8" name="Google Shape;348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49" name="Google Shape;34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6491" y="499766"/>
            <a:ext cx="9791125" cy="56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5" name="Google Shape;355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56" name="Google Shape;3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26" y="365125"/>
            <a:ext cx="10396374" cy="60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925" y="0"/>
            <a:ext cx="8716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7" name="Google Shape;367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68" name="Google Shape;3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475" y="0"/>
            <a:ext cx="950525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778a258d29_0_43"/>
          <p:cNvSpPr txBox="1"/>
          <p:nvPr>
            <p:ph type="title"/>
          </p:nvPr>
        </p:nvSpPr>
        <p:spPr>
          <a:xfrm>
            <a:off x="838200" y="365125"/>
            <a:ext cx="10515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Mode of Operations</a:t>
            </a:r>
            <a:br>
              <a:rPr lang="en-US"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374" name="Google Shape;374;g3778a258d29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727" y="1030302"/>
            <a:ext cx="9786556" cy="58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992b96b9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7992b96b9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g37992b96b9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325"/>
            <a:ext cx="12191999" cy="66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78a258d29_0_48"/>
          <p:cNvSpPr txBox="1"/>
          <p:nvPr>
            <p:ph type="title"/>
          </p:nvPr>
        </p:nvSpPr>
        <p:spPr>
          <a:xfrm>
            <a:off x="838200" y="365125"/>
            <a:ext cx="10515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Mode of Operations</a:t>
            </a:r>
            <a:br>
              <a:rPr lang="en-US"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387" name="Google Shape;387;g3778a258d29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23" y="1563413"/>
            <a:ext cx="11495350" cy="37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78a258d29_0_53"/>
          <p:cNvSpPr txBox="1"/>
          <p:nvPr>
            <p:ph type="title"/>
          </p:nvPr>
        </p:nvSpPr>
        <p:spPr>
          <a:xfrm>
            <a:off x="838200" y="365125"/>
            <a:ext cx="10515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Mode of Operations</a:t>
            </a:r>
            <a:br>
              <a:rPr lang="en-US"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93" name="Google Shape;393;g3778a258d29_0_53"/>
          <p:cNvSpPr txBox="1"/>
          <p:nvPr>
            <p:ph idx="1" type="body"/>
          </p:nvPr>
        </p:nvSpPr>
        <p:spPr>
          <a:xfrm>
            <a:off x="297286" y="1030310"/>
            <a:ext cx="11894700" cy="58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394" name="Google Shape;394;g3778a258d29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75" y="1355225"/>
            <a:ext cx="12034174" cy="38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g3778a258d29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283" y="1372472"/>
            <a:ext cx="9180692" cy="545144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778a258d29_0_59"/>
          <p:cNvSpPr txBox="1"/>
          <p:nvPr>
            <p:ph type="title"/>
          </p:nvPr>
        </p:nvSpPr>
        <p:spPr>
          <a:xfrm>
            <a:off x="838200" y="365125"/>
            <a:ext cx="10515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Mode of Operations</a:t>
            </a:r>
            <a:br>
              <a:rPr lang="en-US"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g3778a258d29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93" y="1455313"/>
            <a:ext cx="9132866" cy="422678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778a258d29_0_64"/>
          <p:cNvSpPr txBox="1"/>
          <p:nvPr>
            <p:ph type="title"/>
          </p:nvPr>
        </p:nvSpPr>
        <p:spPr>
          <a:xfrm>
            <a:off x="838200" y="365125"/>
            <a:ext cx="10515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Mode of Operations</a:t>
            </a:r>
            <a:br>
              <a:rPr lang="en-US"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568" y="57568"/>
            <a:ext cx="8964376" cy="66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78a258d29_0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778a258d29_0_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g3778a258d29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51" y="0"/>
            <a:ext cx="1120457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4" name="Google Shape;424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25" name="Google Shape;4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515600" cy="61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78a258d29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778a258d29_0_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g3778a258d2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836149"/>
            <a:ext cx="10820400" cy="586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778a258d29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738" y="93200"/>
            <a:ext cx="526732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778a258d29_0_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778a258d29_0_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g3778a258d29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647" y="0"/>
            <a:ext cx="1112852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6" name="Google Shape;446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47" name="Google Shape;44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701" y="303050"/>
            <a:ext cx="9994600" cy="63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83" y="83125"/>
            <a:ext cx="8743950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30" y="5596375"/>
            <a:ext cx="10779249" cy="724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9" name="Google Shape;459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60" name="Google Shape;46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150" y="212725"/>
            <a:ext cx="10780650" cy="64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6" name="Google Shape;466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67" name="Google Shape;46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365125"/>
            <a:ext cx="10427976" cy="58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3" name="Google Shape;47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74" name="Google Shape;47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275" y="365125"/>
            <a:ext cx="10515600" cy="60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0" name="Google Shape;480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81" name="Google Shape;48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77" y="365125"/>
            <a:ext cx="10905500" cy="62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7" name="Google Shape;487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88" name="Google Shape;48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550" y="365125"/>
            <a:ext cx="10679250" cy="63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4" name="Google Shape;494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95" name="Google Shape;4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26" y="286125"/>
            <a:ext cx="10515601" cy="6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1" name="Google Shape;501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02" name="Google Shape;50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621925" cy="60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8" name="Google Shape;508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09" name="Google Shape;50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950" y="365125"/>
            <a:ext cx="9194076" cy="60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5" name="Google Shape;515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16" name="Google Shape;5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188" y="289838"/>
            <a:ext cx="9887625" cy="62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2" name="Google Shape;522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23" name="Google Shape;52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365125"/>
            <a:ext cx="10677350" cy="60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2025-07-28T07:54:00Z</dcterms:created>
  <dc:creator>Administrator</dc:creator>
</cp:coreProperties>
</file>