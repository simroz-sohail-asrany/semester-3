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6858000" cx="12192000"/>
  <p:notesSz cx="6858000" cy="9144000"/>
  <p:embeddedFontLst>
    <p:embeddedFont>
      <p:font typeface="Book Antiqua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gXy4mYfuf5+IYR5evkXF4mAtk3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font" Target="fonts/BookAntiqua-regular.fntdata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BookAntiqua-italic.fntdata"/><Relationship Id="rId23" Type="http://schemas.openxmlformats.org/officeDocument/2006/relationships/slide" Target="slides/slide19.xml"/><Relationship Id="rId45" Type="http://schemas.openxmlformats.org/officeDocument/2006/relationships/font" Target="fonts/BookAntiqu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customschemas.google.com/relationships/presentationmetadata" Target="metadata"/><Relationship Id="rId25" Type="http://schemas.openxmlformats.org/officeDocument/2006/relationships/slide" Target="slides/slide21.xml"/><Relationship Id="rId47" Type="http://schemas.openxmlformats.org/officeDocument/2006/relationships/font" Target="fonts/BookAntiqua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8272" y="2479653"/>
            <a:ext cx="4013447" cy="315791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type="ctrTitle"/>
          </p:nvPr>
        </p:nvSpPr>
        <p:spPr>
          <a:xfrm>
            <a:off x="1305059" y="19508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Computer Organization and Assembly Language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1305059" y="6014433"/>
            <a:ext cx="9144000" cy="62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Dr. Rabia Tabassum 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About this Course 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451834" y="1581038"/>
            <a:ext cx="11049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Basic Understanding of Computer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Not a difficult course but simplest one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Very difficult to realize that the real computer can be so simple.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Assembly Language programming gives a freehand exposure to the computer and let the programmer talk with it in its language.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To cover the practical aspect of assembly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  language programming, IBM PC based on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  Intel architecture will be used as an example.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3383" y="4081192"/>
            <a:ext cx="3050417" cy="2607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Course Requirements 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585988" y="20059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Basic digital logic operations of AND, OR, and NOT etc.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Binary Numbers and their arithmetic.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Hex Number and their arithmetic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3633" y="2852603"/>
            <a:ext cx="2147955" cy="2940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Course Objectives </a:t>
            </a:r>
            <a:endParaRPr b="1" i="0" sz="44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585988" y="200593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You will be able to explain all the basic operations of the computer(CPU).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You could understand the psychology of the computer.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You will understand the limitations and capabilities of computer.</a:t>
            </a:r>
            <a:endParaRPr sz="2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ook Antiqua"/>
              <a:buChar char="•"/>
            </a:pPr>
            <a:r>
              <a:rPr lang="en-US" sz="2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How to write programs by understanding the hardware </a:t>
            </a:r>
            <a:r>
              <a:rPr lang="en-US" sz="2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s</a:t>
            </a:r>
            <a:r>
              <a:rPr lang="en-US" sz="2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tructure.</a:t>
            </a:r>
            <a:endParaRPr sz="2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Your logic will become fine grained. </a:t>
            </a:r>
            <a:endParaRPr/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5522" y="187652"/>
            <a:ext cx="2472425" cy="18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Computer Organization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Computer organization is concerned with the way hardware components operate and the way they are connected together to form a computer system.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                               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Computer organization is concerned with the structure and behavior of a computer system.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Assembly Language Programming </a:t>
            </a:r>
            <a:br>
              <a:rPr b="1" lang="en-US">
                <a:latin typeface="Book Antiqua"/>
                <a:ea typeface="Book Antiqua"/>
                <a:cs typeface="Book Antiqua"/>
                <a:sym typeface="Book Antiqua"/>
              </a:rPr>
            </a:b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232893" y="1323348"/>
            <a:ext cx="11731580" cy="5534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assembly language is a low-level programming language designed for a specific type of processor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Assembly language is used to write programs using alphanumeric symbols (or mnemonic), e.g. ADD, MOV, PUSH etc.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Assembly Language depends on the machine code instructions – Every assembler has its own assembly language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Assembly language has a one-to-one relationship with machine language: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– Each assembly language instruction corresponds to a single machine-language instruction.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– A single machine-language instruction can take up one or more bytes of code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idx="1" type="body"/>
          </p:nvPr>
        </p:nvSpPr>
        <p:spPr>
          <a:xfrm>
            <a:off x="387440" y="1180306"/>
            <a:ext cx="11499760" cy="5470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instruction must specify which operation (opcode) is to be performed and the operands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E.g. ADD AX, BX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– ADD is the operation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– AX is called the destination operand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– BX is called the source operand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– The result is AX = AX + BX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When writing assembly language program, you need to think in the instruction level  </a:t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Assembly Language Programming </a:t>
            </a:r>
            <a:b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endParaRPr b="1" i="0" sz="44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idx="1" type="body"/>
          </p:nvPr>
        </p:nvSpPr>
        <p:spPr>
          <a:xfrm>
            <a:off x="606380" y="1313645"/>
            <a:ext cx="11405316" cy="4009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90804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Assembly language programming: Example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     MOV AL, 00H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native language of a computer is machine language (using 0,1 to represent the operation)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machine language code for the above instruction is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                          B4 00 (2 bytes)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– After assembled, and linked into an executable program, the value   B400 will be stored in the memory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When the program is executed, then the value B400 is read from memory, decoded and carry out the task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The executable program could be .com, .exe, or .bin files </a:t>
            </a:r>
            <a:endParaRPr/>
          </a:p>
        </p:txBody>
      </p:sp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5101" y="5323334"/>
            <a:ext cx="7986779" cy="153466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Assembly Language Programming </a:t>
            </a:r>
            <a:b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endParaRPr b="1" i="0" sz="44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idx="1" type="body"/>
          </p:nvPr>
        </p:nvSpPr>
        <p:spPr>
          <a:xfrm>
            <a:off x="645017" y="155516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Learning assembly language programming will help in understanding the operations of a microprocessor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To learn: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Need to know the functions of various registers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Need to know how external memory is organized and how it is addressed to obtain instructions and data (different addressing modes)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Need to know what operations (or the </a:t>
            </a:r>
            <a:r>
              <a:rPr b="1" i="1" lang="en-US">
                <a:latin typeface="Book Antiqua"/>
                <a:ea typeface="Book Antiqua"/>
                <a:cs typeface="Book Antiqua"/>
                <a:sym typeface="Book Antiqua"/>
              </a:rPr>
              <a:t>instruction set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) are supported by the CPU </a:t>
            </a:r>
            <a:endParaRPr/>
          </a:p>
        </p:txBody>
      </p:sp>
      <p:sp>
        <p:nvSpPr>
          <p:cNvPr id="138" name="Google Shape;138;p9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Assembly Language Programming </a:t>
            </a:r>
            <a:b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endParaRPr b="1" i="0" sz="44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idx="1" type="body"/>
          </p:nvPr>
        </p:nvSpPr>
        <p:spPr>
          <a:xfrm>
            <a:off x="438953" y="1675662"/>
            <a:ext cx="11615671" cy="5208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 high-level language (HLL) is a programming language that enables a programmer to write programs that are more or less independent of a particular type of computer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Such languages are considered high-level because they are closer to human languages and further from machine languages.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Examples are C, C++, Java, FORTRAN, or Pascal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High-level languages such as C++ and Java have a </a:t>
            </a:r>
            <a:r>
              <a:rPr i="1" lang="en-US">
                <a:latin typeface="Book Antiqua"/>
                <a:ea typeface="Book Antiqua"/>
                <a:cs typeface="Book Antiqua"/>
                <a:sym typeface="Book Antiqua"/>
              </a:rPr>
              <a:t>one-to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-</a:t>
            </a:r>
            <a:r>
              <a:rPr i="1" lang="en-US">
                <a:latin typeface="Book Antiqua"/>
                <a:ea typeface="Book Antiqua"/>
                <a:cs typeface="Book Antiqua"/>
                <a:sym typeface="Book Antiqua"/>
              </a:rPr>
              <a:t>many 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relationship with assembly language and machine language.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A single statement in C++ expands into multiple assembly language or machine instructions.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High-level Language</a:t>
            </a:r>
            <a:endParaRPr b="1" i="0" sz="44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idx="1" type="body"/>
          </p:nvPr>
        </p:nvSpPr>
        <p:spPr>
          <a:xfrm>
            <a:off x="296214" y="1027134"/>
            <a:ext cx="11895786" cy="583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following C++ code carries out two arithmetic operations and assigns the result to a variable. Assume X and Y are integers: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int Y;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int X = (Y + 4) * 3;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i="0" lang="en-US" sz="2400" u="none" strike="noStrike">
                <a:latin typeface="Book Antiqua"/>
                <a:ea typeface="Book Antiqua"/>
                <a:cs typeface="Book Antiqua"/>
                <a:sym typeface="Book Antiqua"/>
              </a:rPr>
              <a:t>int Y; </a:t>
            </a:r>
            <a:endParaRPr b="0" i="0" sz="2400" u="none" strike="noStrike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i="0" lang="en-US" sz="2400" u="none" strike="noStrike">
                <a:latin typeface="Book Antiqua"/>
                <a:ea typeface="Book Antiqua"/>
                <a:cs typeface="Book Antiqua"/>
                <a:sym typeface="Book Antiqua"/>
              </a:rPr>
              <a:t>int X = (Y + 4) * 3; </a:t>
            </a:r>
            <a:endParaRPr b="0" i="0" sz="2400" u="none" strike="noStrike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u="none" strike="noStrike">
                <a:latin typeface="Book Antiqua"/>
                <a:ea typeface="Book Antiqua"/>
                <a:cs typeface="Book Antiqua"/>
                <a:sym typeface="Book Antiqua"/>
              </a:rPr>
              <a:t> Following is the equivalent translation to assembly language.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en-US" u="none" strike="noStrike">
                <a:latin typeface="Book Antiqua"/>
                <a:ea typeface="Book Antiqua"/>
                <a:cs typeface="Book Antiqua"/>
                <a:sym typeface="Book Antiqua"/>
              </a:rPr>
              <a:t>The translation requires multiple statements because assembly language works at a detailed level: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en-US" sz="2000" u="none" strike="noStrike">
                <a:latin typeface="Book Antiqua"/>
                <a:ea typeface="Book Antiqua"/>
                <a:cs typeface="Book Antiqua"/>
                <a:sym typeface="Book Antiqua"/>
              </a:rPr>
              <a:t>mov eax,Y                    ; move Y to the EAX register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en-US" sz="2000" u="none" strike="noStrike">
                <a:latin typeface="Book Antiqua"/>
                <a:ea typeface="Book Antiqua"/>
                <a:cs typeface="Book Antiqua"/>
                <a:sym typeface="Book Antiqua"/>
              </a:rPr>
              <a:t>add eax,4                      ; add 4 to the EAX register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en-US" sz="2000" u="none" strike="noStrike">
                <a:latin typeface="Book Antiqua"/>
                <a:ea typeface="Book Antiqua"/>
                <a:cs typeface="Book Antiqua"/>
                <a:sym typeface="Book Antiqua"/>
              </a:rPr>
              <a:t>mov ebx,3                    ; move 3 to the EBX register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en-US" sz="2000" u="none" strike="noStrike">
                <a:latin typeface="Book Antiqua"/>
                <a:ea typeface="Book Antiqua"/>
                <a:cs typeface="Book Antiqua"/>
                <a:sym typeface="Book Antiqua"/>
              </a:rPr>
              <a:t>imul ebx                      ; multiply EAX by EBX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0" i="0" lang="en-US" sz="2000" u="none" strike="noStrike">
                <a:latin typeface="Book Antiqua"/>
                <a:ea typeface="Book Antiqua"/>
                <a:cs typeface="Book Antiqua"/>
                <a:sym typeface="Book Antiqua"/>
              </a:rPr>
              <a:t>mov X,eax                   ; move EAX to X </a:t>
            </a:r>
            <a:endParaRPr/>
          </a:p>
        </p:txBody>
      </p:sp>
      <p:sp>
        <p:nvSpPr>
          <p:cNvPr id="150" name="Google Shape;150;p11"/>
          <p:cNvSpPr txBox="1"/>
          <p:nvPr/>
        </p:nvSpPr>
        <p:spPr>
          <a:xfrm>
            <a:off x="1132268" y="1"/>
            <a:ext cx="10515600" cy="1027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High-level Language</a:t>
            </a:r>
            <a:endParaRPr b="1" i="0" sz="44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90804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Registers </a:t>
            </a:r>
            <a:r>
              <a:rPr b="0" i="0" lang="en-US" u="none" strike="noStrike">
                <a:latin typeface="Book Antiqua"/>
                <a:ea typeface="Book Antiqua"/>
                <a:cs typeface="Book Antiqua"/>
                <a:sym typeface="Book Antiqua"/>
              </a:rPr>
              <a:t>are named storage locations in the CPU that hold intermediate results of operations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Assembler 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is a utility program that converts source code programs from assembly language into an object file, a machine language translation of the program.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Optionally a Listing file is also produced.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We’ll use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MASM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as our assembler.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linker 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reads the object file and checks to see if the program contains any calls to procedures in a link library.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–The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linker 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copies any required procedures from the link library, combines them with the object file, and produces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the executable file. 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Microsoft 16-bit linker is LINK.EXE and 32-bit is Linker LINK32.EXE.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OS Loader: 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 program that loads executable files into memory, and branches the CPU to the program’s starting address, (may initialize some registers (e.g. IP) ) and the program begins to execute.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Debugger 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is a utility program, that lets you step through a program while it’s running and examine registers and memory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0" i="0" lang="en-US" u="none" strike="noStrike">
                <a:latin typeface="Book Antiqua"/>
                <a:ea typeface="Book Antiqua"/>
                <a:cs typeface="Book Antiqua"/>
                <a:sym typeface="Book Antiqua"/>
              </a:rPr>
              <a:t>Listing File </a:t>
            </a:r>
            <a:br>
              <a:rPr b="0" i="0" lang="en-US" u="none" strike="noStrike">
                <a:latin typeface="Book Antiqua"/>
                <a:ea typeface="Book Antiqua"/>
                <a:cs typeface="Book Antiqua"/>
                <a:sym typeface="Book Antiqua"/>
              </a:rPr>
            </a:b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61" name="Google Shape;161;p13"/>
          <p:cNvSpPr txBox="1"/>
          <p:nvPr>
            <p:ph idx="1" type="body"/>
          </p:nvPr>
        </p:nvSpPr>
        <p:spPr>
          <a:xfrm>
            <a:off x="232892" y="1246076"/>
            <a:ext cx="11959107" cy="5611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0" i="0" lang="en-US" sz="3200" u="none" strike="noStrike">
                <a:latin typeface="Book Antiqua"/>
                <a:ea typeface="Book Antiqua"/>
                <a:cs typeface="Book Antiqua"/>
                <a:sym typeface="Book Antiqua"/>
              </a:rPr>
              <a:t>A </a:t>
            </a:r>
            <a:r>
              <a:rPr b="0" i="1" lang="en-US" sz="3200" u="none" strike="noStrike">
                <a:latin typeface="Book Antiqua"/>
                <a:ea typeface="Book Antiqua"/>
                <a:cs typeface="Book Antiqua"/>
                <a:sym typeface="Book Antiqua"/>
              </a:rPr>
              <a:t>listing file </a:t>
            </a:r>
            <a:r>
              <a:rPr b="0" i="0" lang="en-US" sz="3200" u="none" strike="noStrike">
                <a:latin typeface="Book Antiqua"/>
                <a:ea typeface="Book Antiqua"/>
                <a:cs typeface="Book Antiqua"/>
                <a:sym typeface="Book Antiqua"/>
              </a:rPr>
              <a:t>contains: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u="none" strike="noStrike">
                <a:latin typeface="Book Antiqua"/>
                <a:ea typeface="Book Antiqua"/>
                <a:cs typeface="Book Antiqua"/>
                <a:sym typeface="Book Antiqua"/>
              </a:rPr>
              <a:t>– a copy of the program’s source code,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u="none" strike="noStrike">
                <a:latin typeface="Book Antiqua"/>
                <a:ea typeface="Book Antiqua"/>
                <a:cs typeface="Book Antiqua"/>
                <a:sym typeface="Book Antiqua"/>
              </a:rPr>
              <a:t>– with line numbers,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u="none" strike="noStrike">
                <a:latin typeface="Book Antiqua"/>
                <a:ea typeface="Book Antiqua"/>
                <a:cs typeface="Book Antiqua"/>
                <a:sym typeface="Book Antiqua"/>
              </a:rPr>
              <a:t>– the numeric address of each instruction,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u="none" strike="noStrike">
                <a:latin typeface="Book Antiqua"/>
                <a:ea typeface="Book Antiqua"/>
                <a:cs typeface="Book Antiqua"/>
                <a:sym typeface="Book Antiqua"/>
              </a:rPr>
              <a:t>– the machine code bytes of each instruction (in hexadecimal), and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– a symbol table.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symbol table contains the names of all program identifiers, segments, and related information.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339" y="381067"/>
            <a:ext cx="10208519" cy="6336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idx="1" type="body"/>
          </p:nvPr>
        </p:nvSpPr>
        <p:spPr>
          <a:xfrm>
            <a:off x="0" y="962738"/>
            <a:ext cx="12192000" cy="5895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6413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Assembly Language for x86 Processors focuses on programming microprocessors compatible with the Intel IA-32 and AMD x86 processors running under Microsoft Windows.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Assembly language bears the closest resemblance to native machine language.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 language whose source programs can be compiled and run on a wide variety of computer systems is said to be </a:t>
            </a:r>
            <a:r>
              <a:rPr b="1" i="1" lang="en-US">
                <a:latin typeface="Book Antiqua"/>
                <a:ea typeface="Book Antiqua"/>
                <a:cs typeface="Book Antiqua"/>
                <a:sym typeface="Book Antiqua"/>
              </a:rPr>
              <a:t>portable.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 C++ program, for example, should compile and run on just about any computer, unless it makes specific references to library functions that exist under a single operating system.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 major feature of the Java language is that compiled programs run on nearly any computer system.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Assembly language is not portable because it is designed for a specific processor family. 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82317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Assembly Language for x86 Processors</a:t>
            </a:r>
            <a:endParaRPr b="1" i="0" sz="44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/>
          <p:nvPr>
            <p:ph idx="1" type="body"/>
          </p:nvPr>
        </p:nvSpPr>
        <p:spPr>
          <a:xfrm>
            <a:off x="220014" y="132556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There are a number of different assembly languages widely used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today, each based on a processor family.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Some well-known processor families are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  Motorola 68x00, x86, SUN Sparc, Vax, and IBM-370.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instructions in assembly language may directly match the computer’s architecture or they may be translated during execution by a program inside the processor known as a </a:t>
            </a:r>
            <a:r>
              <a:rPr b="1" i="1" lang="en-US">
                <a:latin typeface="Book Antiqua"/>
                <a:ea typeface="Book Antiqua"/>
                <a:cs typeface="Book Antiqua"/>
                <a:sym typeface="Book Antiqua"/>
              </a:rPr>
              <a:t>microcode </a:t>
            </a:r>
            <a:r>
              <a:rPr b="1" i="1" lang="en-US">
                <a:latin typeface="Book Antiqua"/>
                <a:ea typeface="Book Antiqua"/>
                <a:cs typeface="Book Antiqua"/>
                <a:sym typeface="Book Antiqua"/>
              </a:rPr>
              <a:t>interpreter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. 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823175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Assembly Language for x86 Processors</a:t>
            </a:r>
            <a:endParaRPr b="1" i="0" sz="44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 Antiqu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Why should Learn Assembly Language in presence of C++, Javaa, C# , python etc.  </a:t>
            </a:r>
            <a:endParaRPr b="1" i="0" sz="44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84" name="Google Shape;1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0150" y="1958326"/>
            <a:ext cx="5989749" cy="4515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99172" y="2306056"/>
            <a:ext cx="2831206" cy="3167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 Antiqu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Why should Learn Assembly Language in presence of C++, Javaa, C# , python etc.  </a:t>
            </a:r>
            <a:endParaRPr b="1" i="0" sz="44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1600" y="2628028"/>
            <a:ext cx="2831206" cy="316741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122348" y="2036065"/>
            <a:ext cx="8869252" cy="4609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High level language are near to programmer and far  from machine.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We could not directly interact with microprocessor and memory.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Some basic principles of computer architecture, as applied to the Intel IA-32 processor family.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How IA-32 processors manage memory, using real mode, protected mode, and virtual mode. </a:t>
            </a:r>
            <a:endParaRPr/>
          </a:p>
          <a:p>
            <a:pPr indent="-64135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High level language have certain limitations to access computer hardware. 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 Antiqu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Why should Learn Assembly Language in presence of C++, Javaa, C# , python etc.  </a:t>
            </a:r>
            <a:endParaRPr b="1" i="0" sz="44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1600" y="2628028"/>
            <a:ext cx="2831206" cy="316741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444320" y="2159212"/>
            <a:ext cx="85472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Another use of assembly language is in time critical system called </a:t>
            </a:r>
            <a:r>
              <a:rPr b="1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Real Time System  </a:t>
            </a:r>
            <a:endParaRPr/>
          </a:p>
          <a:p>
            <a:pPr indent="-64135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Real Time System have time bound responses with an upper limit of time on certain operations. </a:t>
            </a:r>
            <a:endParaRPr/>
          </a:p>
          <a:p>
            <a:pPr indent="-64135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In high level language we cannot even tell how many computer instruction were actually used, but in assembly language we can have precise control over them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 Antiqua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Why should Learn Assembly Language in presence of C++, Javaa, C# , python etc.  </a:t>
            </a:r>
            <a:endParaRPr b="1" i="0" sz="44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1600" y="2628028"/>
            <a:ext cx="2831206" cy="316741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444320" y="2159212"/>
            <a:ext cx="85472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To produce fine grained logic in programmers.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Each and every grain of assembly language has a meaning; nothing is presumed. </a:t>
            </a:r>
            <a:endParaRPr b="0" i="0" sz="28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Just like a “for” loop in a higher level language is a block construct and has a hundred things hidden in it.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Using the grains of assembly language we do a similar operation with a number of grains but in the process understand the minute logic hidden beside that simple “for” construct.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type="title"/>
          </p:nvPr>
        </p:nvSpPr>
        <p:spPr>
          <a:xfrm>
            <a:off x="471153" y="506792"/>
            <a:ext cx="11094075" cy="871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What you’ll learn from Assembly Language Programming </a:t>
            </a:r>
            <a:br>
              <a:rPr b="1" lang="en-US">
                <a:latin typeface="Book Antiqua"/>
                <a:ea typeface="Book Antiqua"/>
                <a:cs typeface="Book Antiqua"/>
                <a:sym typeface="Book Antiqua"/>
              </a:rPr>
            </a:br>
            <a:endParaRPr b="1"/>
          </a:p>
        </p:txBody>
      </p:sp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0" y="1184854"/>
            <a:ext cx="12093262" cy="5479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• How high-level language compilers (such as C++) translate statements from their language into assembly language and native machine code.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How high-level languages implement arithmetic expressions, loops, and logical structures at the machine level.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You will improve your machine-level debugging skills. – Even in C++, when your programs have errors due to pointers or memory allocation, you can dive to the machine level and find out what really went wrong.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High-level languages purposely hide machine-specific details, but sometimes these details are important when tracking down errors.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Assembly language will help you understanding the interaction between the computer hardware, operating system, and application programs.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Virtual Machine Concept 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18" name="Google Shape;218;p22"/>
          <p:cNvSpPr txBox="1"/>
          <p:nvPr>
            <p:ph idx="1" type="body"/>
          </p:nvPr>
        </p:nvSpPr>
        <p:spPr>
          <a:xfrm>
            <a:off x="151863" y="2506662"/>
            <a:ext cx="1204013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 computer can usually execute programs written in its native </a:t>
            </a:r>
            <a:r>
              <a:rPr i="1" lang="en-US">
                <a:latin typeface="Book Antiqua"/>
                <a:ea typeface="Book Antiqua"/>
                <a:cs typeface="Book Antiqua"/>
                <a:sym typeface="Book Antiqua"/>
              </a:rPr>
              <a:t>machine language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Each instruction in this language is simple enough to be executed using a relatively small number of electronic circuits. For simplicity, we will call this language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L0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Programmers would have a difficult time writing programs in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L0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because it is enormously detailed and consists purely of numbers.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If a new language,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L1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, could be constructed that was easier to use, programs could be written in </a:t>
            </a: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L1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838200" y="1429078"/>
            <a:ext cx="1025051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An effective way to explain how a computer’s hardware and software are related is called the virtual machine concept</a:t>
            </a:r>
            <a:r>
              <a:rPr b="1" i="1" lang="en-US" sz="20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. </a:t>
            </a:r>
            <a:endParaRPr b="1" i="1" sz="20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Virtual Machine Concept 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25" name="Google Shape;225;p23"/>
          <p:cNvSpPr txBox="1"/>
          <p:nvPr>
            <p:ph idx="1" type="body"/>
          </p:nvPr>
        </p:nvSpPr>
        <p:spPr>
          <a:xfrm>
            <a:off x="129862" y="1400622"/>
            <a:ext cx="12062138" cy="5457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Rather than using only Language, it is easier to think in term of a hypothetical computer, </a:t>
            </a:r>
            <a:r>
              <a:rPr b="1" i="1" lang="en-US">
                <a:latin typeface="Book Antiqua"/>
                <a:ea typeface="Book Antiqua"/>
                <a:cs typeface="Book Antiqua"/>
                <a:sym typeface="Book Antiqua"/>
              </a:rPr>
              <a:t>Virtual Machine 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, at each level.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Programming Language analogy: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   – Each computer has a native machine language (language L0) that runs directly on its hardware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   – A more human-friendly language is usually constructed above machine language, called Language L1 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Virtual machine acts as a software program that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b="1" i="1" lang="en-US">
                <a:latin typeface="Book Antiqua"/>
                <a:ea typeface="Book Antiqua"/>
                <a:cs typeface="Book Antiqua"/>
                <a:sym typeface="Book Antiqua"/>
              </a:rPr>
              <a:t>emulates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the functions of some other physical or virtual computer.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virtual machine VM1 , as we will call it , can execute commands written in language L1.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 virtual machine VM0 can execute commands written in language L0. 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Virtual Machine Concept 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31" name="Google Shape;231;p24"/>
          <p:cNvSpPr txBox="1"/>
          <p:nvPr>
            <p:ph idx="1" type="body"/>
          </p:nvPr>
        </p:nvSpPr>
        <p:spPr>
          <a:xfrm>
            <a:off x="298172" y="160558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Program written in VM1 can Interpreted / Translated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and Executed on machine VM0 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232" name="Google Shape;2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8829" y="2931148"/>
            <a:ext cx="4374290" cy="2833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Virtual Machine Concept 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38" name="Google Shape;238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Programs written in L1 can run in two different ways: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Interpretation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L0 program interprets and executes L1 instructions one by one.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Translation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L1 program is completely translated into an L0 program (which then runs on the computer hardware)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Virtual Machine Concept 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44" name="Google Shape;244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What if the language VM1 supports is still not programmer friendly enough to be used for useful application?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Then another virtual machine, VM2, can be designed that is more easily understood.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This process can be repeated until a virtual machine VM</a:t>
            </a:r>
            <a:r>
              <a:rPr i="1" lang="en-US">
                <a:latin typeface="Book Antiqua"/>
                <a:ea typeface="Book Antiqua"/>
                <a:cs typeface="Book Antiqua"/>
                <a:sym typeface="Book Antiqua"/>
              </a:rPr>
              <a:t>n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VM</a:t>
            </a:r>
            <a:r>
              <a:rPr i="1" lang="en-US">
                <a:latin typeface="Book Antiqua"/>
                <a:ea typeface="Book Antiqua"/>
                <a:cs typeface="Book Antiqua"/>
                <a:sym typeface="Book Antiqua"/>
              </a:rPr>
              <a:t>n</a:t>
            </a: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 can be designed to support a powerful , easy-to-use language.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/>
          <p:nvPr/>
        </p:nvSpPr>
        <p:spPr>
          <a:xfrm>
            <a:off x="812442" y="1433864"/>
            <a:ext cx="8949744" cy="5516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English</a:t>
            </a: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: Display the sum of A times B plus C.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C++: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cout &lt;&lt; (A * B + C);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Assembly Language: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mov eax,A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mul B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add eax,C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call Write Int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Intel Machine Language: </a:t>
            </a:r>
            <a:endParaRPr b="1"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A1 00000000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F7 25 00000004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03 05 00000008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E8 00500000 </a:t>
            </a:r>
            <a:endParaRPr b="0" i="0" sz="1800" u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50" name="Google Shape;250;p27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 sz="4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Virtual Machine Concept </a:t>
            </a:r>
            <a:endParaRPr b="1" sz="4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JAVA – JVM 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192646" y="1206761"/>
            <a:ext cx="11806708" cy="5693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The Java programming language is based on the virtual machine concept.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A program written in the Java language is translated by a Java compiler into </a:t>
            </a:r>
            <a:r>
              <a:rPr b="0" i="1" lang="en-US" sz="2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Java byte code </a:t>
            </a:r>
            <a:r>
              <a:rPr lang="en-US" sz="2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- </a:t>
            </a:r>
            <a:r>
              <a:rPr b="0" i="0" lang="en-US" sz="2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 low-level language</a:t>
            </a:r>
            <a:endParaRPr sz="2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Java byte code is executed at runtime by a program known as a </a:t>
            </a:r>
            <a:r>
              <a:rPr b="1" i="1" lang="en-US" sz="2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Java virtual machine (JVM)</a:t>
            </a:r>
            <a:r>
              <a:rPr b="1" lang="en-US" sz="2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.</a:t>
            </a:r>
            <a:endParaRPr sz="2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The JVM has been implemented on many different computer system, making java programs relatively System Independent.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JVM is platform dependent that means there are different implementation of JVM on different 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Virtual Machine Levels 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262" name="Google Shape;2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5204" y="1561900"/>
            <a:ext cx="5027361" cy="4774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825321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Virtual Machine Levels 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268846" y="1095043"/>
            <a:ext cx="11628550" cy="6109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strike="noStrike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Level 4 High Level languages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Application-oriented languages </a:t>
            </a:r>
            <a:r>
              <a:rPr b="0" i="0" lang="en-US" sz="14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– C++, Java, Pascal, Visual Basic . . 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Programs compile into assembly language (Level 3)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Level 3 Assembly Language </a:t>
            </a: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Instruction mnemonics that have a one-to-one correspondence to machine language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Programs are translated into Instruction Set Architecture Level - machine language (Level 2)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The instructions in assembly language may directly match the computer’s architecture or they may be translated during execution by a program inside the processor known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microcode interpreter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Level 2 Instruction Set Architecture (ISA)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Also known as conventional machine language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Executed by Level 1 (Digital Logic)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Level 1 Digital Logic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CPU, constructed from digital logic gates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• System bus  • Memory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Implemented using bipolar transistors 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b="1" lang="en-US">
                <a:latin typeface="Book Antiqua"/>
                <a:ea typeface="Book Antiqua"/>
                <a:cs typeface="Book Antiqua"/>
                <a:sym typeface="Book Antiqua"/>
              </a:rPr>
              <a:t>Data Representation</a:t>
            </a:r>
            <a:endParaRPr b="1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74" name="Google Shape;274;p35"/>
          <p:cNvSpPr/>
          <p:nvPr/>
        </p:nvSpPr>
        <p:spPr>
          <a:xfrm>
            <a:off x="1373745" y="1690688"/>
            <a:ext cx="9637691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Binary Integers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   -  </a:t>
            </a:r>
            <a:r>
              <a:rPr b="0" i="0" lang="en-US" sz="24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Translating between binary and decimal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Binary Addition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Integer Storage Sizes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Hexadecimal Integers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      -  </a:t>
            </a:r>
            <a:r>
              <a:rPr b="0" i="0" lang="en-US" sz="24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Translating between decimal and hexadecimal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Hexadecimal Addition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Hexadecimal subtraction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Signed Binary Integers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Binary subtraction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Character Storage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type="title"/>
          </p:nvPr>
        </p:nvSpPr>
        <p:spPr>
          <a:xfrm>
            <a:off x="838200" y="365126"/>
            <a:ext cx="10515600" cy="703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 Antiqua"/>
              <a:buNone/>
            </a:pPr>
            <a:br>
              <a:rPr lang="en-US"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Integer Storage Sizes </a:t>
            </a:r>
            <a:endParaRPr/>
          </a:p>
        </p:txBody>
      </p:sp>
      <p:pic>
        <p:nvPicPr>
          <p:cNvPr id="280" name="Google Shape;28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6068" y="1171238"/>
            <a:ext cx="3614000" cy="146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635647"/>
            <a:ext cx="10913920" cy="3494697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6"/>
          <p:cNvSpPr txBox="1"/>
          <p:nvPr/>
        </p:nvSpPr>
        <p:spPr>
          <a:xfrm>
            <a:off x="4095482" y="1529131"/>
            <a:ext cx="223651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endParaRPr sz="2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Standard sizes: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lang="en-US">
                <a:latin typeface="Book Antiqua"/>
                <a:ea typeface="Book Antiqua"/>
                <a:cs typeface="Book Antiqua"/>
                <a:sym typeface="Book Antiqua"/>
              </a:rPr>
              <a:t>Hexadecimal Addition 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88" name="Google Shape;288;p37"/>
          <p:cNvSpPr txBox="1"/>
          <p:nvPr>
            <p:ph idx="1" type="body"/>
          </p:nvPr>
        </p:nvSpPr>
        <p:spPr>
          <a:xfrm>
            <a:off x="593502" y="1387742"/>
            <a:ext cx="10515600" cy="5470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Divide the sum of two digits by the number base (16). The quotient becomes the carry value, and the remainder is the sum digit.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Important skill: Programmers frequently add and subtract the addresses of variables and instructions.</a:t>
            </a:r>
            <a:endParaRPr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289" name="Google Shape;28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2730" y="2310683"/>
            <a:ext cx="5622165" cy="3086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3957" y="1614074"/>
            <a:ext cx="7282466" cy="400772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8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ook Antiqua"/>
              <a:buNone/>
            </a:pPr>
            <a:r>
              <a:rPr lang="en-US" sz="44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Hexadecimal Subraction  </a:t>
            </a:r>
            <a:endParaRPr sz="44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96" name="Google Shape;296;p38"/>
          <p:cNvSpPr/>
          <p:nvPr/>
        </p:nvSpPr>
        <p:spPr>
          <a:xfrm>
            <a:off x="284408" y="5667038"/>
            <a:ext cx="1122179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strike="noStrike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Example: </a:t>
            </a:r>
            <a:endParaRPr/>
          </a:p>
          <a:p>
            <a:pPr indent="0" lvl="0" marL="0" marR="274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The address of </a:t>
            </a:r>
            <a:r>
              <a:rPr b="1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var1 </a:t>
            </a:r>
            <a:r>
              <a:rPr b="0" i="0" lang="en-US" sz="1800" u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is 00400020. The address of the next variable after var1 is 0040006A. How many bytes are used by var1?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2" name="Google Shape;302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03" name="Google Shape;30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7700"/>
            <a:ext cx="10675513" cy="6251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10" name="Google Shape;31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737" y="236336"/>
            <a:ext cx="9335909" cy="6286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6" name="Google Shape;316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17" name="Google Shape;31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8925" y="365125"/>
            <a:ext cx="8059627" cy="5942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3" name="Google Shape;323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24" name="Google Shape;32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262" y="365125"/>
            <a:ext cx="9136957" cy="6084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0" name="Google Shape;330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31" name="Google Shape;3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65124"/>
            <a:ext cx="9233079" cy="6142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2025-07-28T07:54:00Z</dcterms:created>
  <dc:creator>Administrator</dc:creator>
</cp:coreProperties>
</file>